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Press Start 2P" panose="020B0604020202020204" charset="0"/>
      <p:regular r:id="rId9"/>
    </p:embeddedFont>
    <p:embeddedFont>
      <p:font typeface="Rubik" panose="020B0604020202020204" charset="-79"/>
      <p:regular r:id="rId10"/>
      <p:bold r:id="rId11"/>
      <p:italic r:id="rId12"/>
      <p:boldItalic r:id="rId13"/>
    </p:embeddedFont>
    <p:embeddedFont>
      <p:font typeface="Rubik SemiBold" panose="020B0604020202020204" charset="-79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19250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3716760"/>
            <a:ext cx="5276850" cy="126957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28650" y="1871662"/>
            <a:ext cx="5276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0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4530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ADVENTURE RPG AWAITS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628650" y="2138362"/>
            <a:ext cx="5540692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750" b="1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Разработка 2</a:t>
            </a:r>
            <a:r>
              <a:rPr lang="en-US" sz="3750" b="1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ru-RU" sz="3750" b="1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-игры «</a:t>
            </a:r>
            <a:r>
              <a:rPr lang="en-US" sz="3750" b="1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Altarion’s Journey</a:t>
            </a:r>
            <a:r>
              <a:rPr lang="ru-RU" sz="3750" b="1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»</a:t>
            </a:r>
            <a:endParaRPr dirty="0"/>
          </a:p>
        </p:txBody>
      </p:sp>
      <p:sp>
        <p:nvSpPr>
          <p:cNvPr id="90" name="Google Shape;90;p13"/>
          <p:cNvSpPr/>
          <p:nvPr/>
        </p:nvSpPr>
        <p:spPr>
          <a:xfrm>
            <a:off x="6372225" y="1704975"/>
            <a:ext cx="5105400" cy="3448050"/>
          </a:xfrm>
          <a:prstGeom prst="rect">
            <a:avLst/>
          </a:prstGeom>
          <a:noFill/>
          <a:ln w="9525" cap="flat" cmpd="sng">
            <a:solidFill>
              <a:srgbClr val="854D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562725" y="1704975"/>
            <a:ext cx="4724400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i="0" u="none" strike="noStrike" cap="none" dirty="0">
                <a:solidFill>
                  <a:srgbClr val="B4530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Частное профессиональное образовательное учреждение</a:t>
            </a:r>
            <a:br>
              <a:rPr lang="ru-RU" sz="800" b="0" i="0" u="none" strike="noStrike" cap="none" dirty="0">
                <a:solidFill>
                  <a:srgbClr val="B45309"/>
                </a:solidFill>
                <a:latin typeface="Press Start 2P"/>
                <a:ea typeface="Press Start 2P"/>
                <a:cs typeface="Press Start 2P"/>
                <a:sym typeface="Press Start 2P"/>
              </a:rPr>
            </a:br>
            <a:r>
              <a:rPr lang="ru-RU" sz="800" b="0" i="0" u="none" strike="noStrike" cap="none" dirty="0">
                <a:solidFill>
                  <a:srgbClr val="B4530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Тюменского областного союза потребительских обществ</a:t>
            </a:r>
            <a:br>
              <a:rPr lang="ru-RU" sz="800" b="0" i="0" u="none" strike="noStrike" cap="none" dirty="0">
                <a:solidFill>
                  <a:srgbClr val="B45309"/>
                </a:solidFill>
                <a:latin typeface="Press Start 2P"/>
                <a:ea typeface="Press Start 2P"/>
                <a:cs typeface="Press Start 2P"/>
                <a:sym typeface="Press Start 2P"/>
              </a:rPr>
            </a:br>
            <a:r>
              <a:rPr lang="ru-RU" sz="800" b="0" i="0" u="none" strike="noStrike" cap="none" dirty="0">
                <a:solidFill>
                  <a:srgbClr val="B4530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«Тюменский колледж экономики, управления и права»</a:t>
            </a:r>
          </a:p>
          <a:p>
            <a:pPr marL="0" marR="0" lvl="0" indent="0" algn="ctr" rtl="0">
              <a:lnSpc>
                <a:spcPct val="139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i="0" u="none" strike="noStrike" cap="none" dirty="0">
                <a:solidFill>
                  <a:srgbClr val="B4530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(ЧПОУ ТОСПО «</a:t>
            </a:r>
            <a:r>
              <a:rPr lang="ru-RU" sz="800" b="0" i="0" u="none" strike="noStrike" cap="none" dirty="0" err="1">
                <a:solidFill>
                  <a:srgbClr val="B4530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ТюмКЭУП</a:t>
            </a:r>
            <a:r>
              <a:rPr lang="ru-RU" sz="800" b="0" i="0" u="none" strike="noStrike" cap="none" dirty="0">
                <a:solidFill>
                  <a:srgbClr val="B4530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»)</a:t>
            </a:r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9119" y="1865828"/>
            <a:ext cx="119062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775993" y="4310062"/>
            <a:ext cx="124301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 dirty="0">
                <a:solidFill>
                  <a:srgbClr val="B45309"/>
                </a:solidFill>
                <a:latin typeface="Rubik"/>
                <a:ea typeface="Rubik"/>
                <a:cs typeface="Rubik"/>
                <a:sym typeface="Rubik"/>
              </a:rPr>
              <a:t>СТУДЕНТ</a:t>
            </a:r>
            <a:r>
              <a:rPr lang="en-US" sz="1200" b="1" i="0" u="none" strike="noStrike" cap="none" dirty="0">
                <a:solidFill>
                  <a:srgbClr val="B45309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2133600" y="4310062"/>
            <a:ext cx="36004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Максимов</a:t>
            </a:r>
            <a:r>
              <a:rPr lang="en-US" sz="1200" b="0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 Даниил </a:t>
            </a:r>
            <a:r>
              <a:rPr lang="en-US" sz="1200" b="0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Александрович</a:t>
            </a: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656931" y="4633912"/>
            <a:ext cx="13620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45309"/>
                </a:solidFill>
                <a:latin typeface="Rubik"/>
                <a:ea typeface="Rubik"/>
                <a:cs typeface="Rubik"/>
                <a:sym typeface="Rubik"/>
              </a:rPr>
              <a:t>РУКОВОДИТЕЛЬ: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2133600" y="4633912"/>
            <a:ext cx="3600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Тетерина</a:t>
            </a:r>
            <a:r>
              <a:rPr lang="en-US" sz="1200" b="0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Мария</a:t>
            </a:r>
            <a:r>
              <a:rPr lang="en-US" sz="1200" b="0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Васильевна</a:t>
            </a:r>
            <a:endParaRPr dirty="0"/>
          </a:p>
        </p:txBody>
      </p:sp>
      <p:sp>
        <p:nvSpPr>
          <p:cNvPr id="3" name="Google Shape;94;p13">
            <a:extLst>
              <a:ext uri="{FF2B5EF4-FFF2-40B4-BE49-F238E27FC236}">
                <a16:creationId xmlns:a16="http://schemas.microsoft.com/office/drawing/2014/main" id="{B40D3163-CE57-8142-B512-DAE4394F3BD4}"/>
              </a:ext>
            </a:extLst>
          </p:cNvPr>
          <p:cNvSpPr txBox="1"/>
          <p:nvPr/>
        </p:nvSpPr>
        <p:spPr>
          <a:xfrm>
            <a:off x="775993" y="3990670"/>
            <a:ext cx="124301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 dirty="0">
                <a:solidFill>
                  <a:srgbClr val="B45309"/>
                </a:solidFill>
                <a:latin typeface="Rubik"/>
                <a:ea typeface="Rubik"/>
                <a:cs typeface="Rubik"/>
                <a:sym typeface="Rubik"/>
              </a:rPr>
              <a:t>ГРУППА</a:t>
            </a:r>
            <a:r>
              <a:rPr lang="en-US" sz="1200" b="1" i="0" u="none" strike="noStrike" cap="none" dirty="0">
                <a:solidFill>
                  <a:srgbClr val="B45309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endParaRPr dirty="0"/>
          </a:p>
        </p:txBody>
      </p:sp>
      <p:sp>
        <p:nvSpPr>
          <p:cNvPr id="5" name="Google Shape;95;p13">
            <a:extLst>
              <a:ext uri="{FF2B5EF4-FFF2-40B4-BE49-F238E27FC236}">
                <a16:creationId xmlns:a16="http://schemas.microsoft.com/office/drawing/2014/main" id="{924FEC41-3F45-4A72-00EA-17F3C39FA41B}"/>
              </a:ext>
            </a:extLst>
          </p:cNvPr>
          <p:cNvSpPr txBox="1"/>
          <p:nvPr/>
        </p:nvSpPr>
        <p:spPr>
          <a:xfrm>
            <a:off x="2133600" y="3990670"/>
            <a:ext cx="36004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ИП 22-14б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4E2FD2-0113-474B-EBD9-843A6F510D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7992" y="2686627"/>
            <a:ext cx="4330790" cy="29774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0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225" y="10239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616993"/>
            <a:ext cx="5276850" cy="2405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16993"/>
            <a:ext cx="5276850" cy="240506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/>
          <p:nvPr/>
        </p:nvSpPr>
        <p:spPr>
          <a:xfrm>
            <a:off x="714375" y="2702718"/>
            <a:ext cx="5105400" cy="2233612"/>
          </a:xfrm>
          <a:prstGeom prst="rect">
            <a:avLst/>
          </a:prstGeom>
          <a:noFill/>
          <a:ln w="9525" cap="flat" cmpd="sng">
            <a:solidFill>
              <a:srgbClr val="854D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904875" y="2893218"/>
            <a:ext cx="472440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EF444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СПРОС НА РЫНКЕ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904875" y="3159918"/>
            <a:ext cx="49606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Уникальный</a:t>
            </a:r>
            <a:r>
              <a:rPr lang="en-US" sz="1650" b="1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650" b="1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геймплей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904875" y="3531393"/>
            <a:ext cx="4724400" cy="1471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Растущий спрос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на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инди-игры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требует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от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создателей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оригинальных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решений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.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Объединение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классических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три-в-ряд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головоломок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со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стратегической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системой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улучшений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RPG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предлагает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игрокам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свежий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и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крайне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затягивающий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игровой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цикл</a:t>
            </a:r>
            <a:r>
              <a:rPr lang="en-US" sz="127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dirty="0"/>
          </a:p>
        </p:txBody>
      </p:sp>
      <p:sp>
        <p:nvSpPr>
          <p:cNvPr id="111" name="Google Shape;111;p14"/>
          <p:cNvSpPr/>
          <p:nvPr/>
        </p:nvSpPr>
        <p:spPr>
          <a:xfrm>
            <a:off x="6372225" y="2702718"/>
            <a:ext cx="5105400" cy="2233612"/>
          </a:xfrm>
          <a:prstGeom prst="rect">
            <a:avLst/>
          </a:prstGeom>
          <a:noFill/>
          <a:ln w="9525" cap="flat" cmpd="sng">
            <a:solidFill>
              <a:srgbClr val="854D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562725" y="2893218"/>
            <a:ext cx="472440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5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3B82F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ЭКОНОМИКА ПРОЕКТА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62725" y="3159918"/>
            <a:ext cx="49606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Удержание игроков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62725" y="3531393"/>
            <a:ext cx="47244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Подобные гибридные механики увеличивают время игровой сессии, повышают вовлеченность пользователей и отлично поддаются мобильной монетизации. Проект демонстрирует надежные методы программной инженерии.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9155" y="2894011"/>
            <a:ext cx="13811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07956" y="2893218"/>
            <a:ext cx="109537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1076325" y="533400"/>
            <a:ext cx="1101137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B45309"/>
                </a:solidFill>
                <a:latin typeface="Rubik"/>
                <a:ea typeface="Rubik"/>
                <a:cs typeface="Rubik"/>
                <a:sym typeface="Rubik"/>
              </a:rPr>
              <a:t>АКТУАЛЬНОСТЬ РАБОТЫ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628650" y="1038225"/>
            <a:ext cx="10934700" cy="38100"/>
          </a:xfrm>
          <a:prstGeom prst="rect">
            <a:avLst/>
          </a:prstGeom>
          <a:solidFill>
            <a:srgbClr val="854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0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643187"/>
            <a:ext cx="34861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643187"/>
            <a:ext cx="34861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7200" y="2643187"/>
            <a:ext cx="348615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1692413" y="3633787"/>
            <a:ext cx="13586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Главная</a:t>
            </a:r>
            <a:r>
              <a:rPr lang="en-US" sz="1500" b="1" i="0" u="none" strike="noStrike" cap="none" dirty="0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500" b="1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цель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866775" y="3957637"/>
            <a:ext cx="30099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Проектирование и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разработка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полноценной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2D-игры «Altarion’s Journey» с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пошаговой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Match-3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боевой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системой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5406456" y="3633787"/>
            <a:ext cx="13790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Инструменты</a:t>
            </a:r>
            <a:endParaRPr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4591050" y="3957637"/>
            <a:ext cx="3009900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Анализ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игровых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аналогов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выбор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оптимального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технического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стека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и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создание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гибкой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архитектуры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9197147" y="3638451"/>
            <a:ext cx="12462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A2C11"/>
                </a:solidFill>
                <a:latin typeface="Rubik"/>
                <a:ea typeface="Rubik"/>
                <a:cs typeface="Rubik"/>
                <a:sym typeface="Rubik"/>
              </a:rPr>
              <a:t>Реализация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315325" y="3957637"/>
            <a:ext cx="30099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Программирование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игрового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цикла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системы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генерации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элементов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ru-RU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улучшения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персонажей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боевого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UI и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технической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25" b="0" i="0" u="none" strike="noStrike" cap="none" dirty="0" err="1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документации</a:t>
            </a:r>
            <a:r>
              <a:rPr lang="en-US" sz="1125" b="0" i="0" u="none" strike="noStrike" cap="none" dirty="0">
                <a:solidFill>
                  <a:srgbClr val="5C4027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1076325" y="533400"/>
            <a:ext cx="1101137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B45309"/>
                </a:solidFill>
                <a:latin typeface="Rubik"/>
                <a:ea typeface="Rubik"/>
                <a:cs typeface="Rubik"/>
                <a:sym typeface="Rubik"/>
              </a:rPr>
              <a:t>ЦЕЛИ И ЗАДАЧИ ПРОЕКТА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628650" y="1038225"/>
            <a:ext cx="10934700" cy="38100"/>
          </a:xfrm>
          <a:prstGeom prst="rect">
            <a:avLst/>
          </a:prstGeom>
          <a:solidFill>
            <a:srgbClr val="854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F78AE8-F591-2013-9921-966D2044CE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250" y="2664212"/>
            <a:ext cx="1120050" cy="11200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B4B724-8EDD-BD06-423E-5B082315FB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4803" y="2664212"/>
            <a:ext cx="1043799" cy="104379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E82BE75-5E58-286F-D3D9-D89B8C63EF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2992" y="2524235"/>
            <a:ext cx="1206016" cy="12060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15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15100" y="2238375"/>
            <a:ext cx="4819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1123950" y="2183147"/>
            <a:ext cx="48006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Ретро-</a:t>
            </a:r>
            <a:r>
              <a:rPr lang="en-US" sz="1350" b="1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стилистика</a:t>
            </a:r>
            <a:r>
              <a:rPr lang="en-US" sz="1350" b="1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роработанный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яркий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пиксель-арт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в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стиле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легендарных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консолей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эпохи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350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1990гг.  и 2000гг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1104900" y="3012281"/>
            <a:ext cx="480060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Синтез</a:t>
            </a:r>
            <a:r>
              <a:rPr lang="en-US" sz="1350" b="1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1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жанров</a:t>
            </a:r>
            <a:r>
              <a:rPr lang="en-US" sz="1350" b="1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350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у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рон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по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врагам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наносится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за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счет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успешных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комбинаций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350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различных элементов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на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игровом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поле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боя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1104900" y="3921472"/>
            <a:ext cx="48006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Вид</a:t>
            </a:r>
            <a:r>
              <a:rPr lang="en-US" sz="1350" b="1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1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сбоку</a:t>
            </a:r>
            <a:r>
              <a:rPr lang="en-US" sz="1350" b="1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иксельные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герои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и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монстры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находятся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в</a:t>
            </a:r>
            <a:r>
              <a:rPr lang="ru-RU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боевых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позах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dirty="0"/>
          </a:p>
        </p:txBody>
      </p:sp>
      <p:sp>
        <p:nvSpPr>
          <p:cNvPr id="153" name="Google Shape;153;p16"/>
          <p:cNvSpPr txBox="1"/>
          <p:nvPr/>
        </p:nvSpPr>
        <p:spPr>
          <a:xfrm>
            <a:off x="1104900" y="4554141"/>
            <a:ext cx="480060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Современная</a:t>
            </a:r>
            <a:r>
              <a:rPr lang="en-US" sz="1350" b="1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1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инженерия</a:t>
            </a:r>
            <a:r>
              <a:rPr lang="en-US" sz="1350" b="1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ru-RU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и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спользование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преимуществ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движка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Godot и </a:t>
            </a:r>
            <a:r>
              <a:rPr lang="en-US" sz="1350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высокопроизводительного</a:t>
            </a:r>
            <a:r>
              <a:rPr lang="ru-RU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языка программирования</a:t>
            </a:r>
            <a:r>
              <a:rPr lang="en-US" sz="1350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C#.</a:t>
            </a:r>
            <a:endParaRPr dirty="0"/>
          </a:p>
        </p:txBody>
      </p:sp>
      <p:sp>
        <p:nvSpPr>
          <p:cNvPr id="158" name="Google Shape;158;p16"/>
          <p:cNvSpPr txBox="1"/>
          <p:nvPr/>
        </p:nvSpPr>
        <p:spPr>
          <a:xfrm>
            <a:off x="6657975" y="2333625"/>
            <a:ext cx="1538287" cy="8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SPELLS &amp; WEAPONS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0648950" y="2333625"/>
            <a:ext cx="542925" cy="8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F59E0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LVL 99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138118" y="3952875"/>
            <a:ext cx="519062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 dirty="0">
                <a:solidFill>
                  <a:srgbClr val="854D0E"/>
                </a:solidFill>
                <a:latin typeface="Rubik"/>
                <a:ea typeface="Rubik"/>
                <a:cs typeface="Rubik"/>
                <a:sym typeface="Rubik"/>
              </a:rPr>
              <a:t>FIREBALL</a:t>
            </a:r>
            <a:endParaRPr dirty="0"/>
          </a:p>
        </p:txBody>
      </p:sp>
      <p:sp>
        <p:nvSpPr>
          <p:cNvPr id="163" name="Google Shape;163;p16"/>
          <p:cNvSpPr txBox="1"/>
          <p:nvPr/>
        </p:nvSpPr>
        <p:spPr>
          <a:xfrm>
            <a:off x="8697827" y="3952875"/>
            <a:ext cx="450545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 dirty="0">
                <a:solidFill>
                  <a:srgbClr val="854D0E"/>
                </a:solidFill>
                <a:latin typeface="Rubik"/>
                <a:ea typeface="Rubik"/>
                <a:cs typeface="Rubik"/>
                <a:sym typeface="Rubik"/>
              </a:rPr>
              <a:t>ICEBALL</a:t>
            </a:r>
            <a:endParaRPr dirty="0"/>
          </a:p>
        </p:txBody>
      </p:sp>
      <p:sp>
        <p:nvSpPr>
          <p:cNvPr id="165" name="Google Shape;165;p16"/>
          <p:cNvSpPr txBox="1"/>
          <p:nvPr/>
        </p:nvSpPr>
        <p:spPr>
          <a:xfrm>
            <a:off x="10175767" y="3952875"/>
            <a:ext cx="589907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 dirty="0">
                <a:solidFill>
                  <a:srgbClr val="854D0E"/>
                </a:solidFill>
                <a:latin typeface="Rubik"/>
                <a:ea typeface="Rubik"/>
                <a:cs typeface="Rubik"/>
                <a:sym typeface="Rubik"/>
              </a:rPr>
              <a:t>LIGHTNING</a:t>
            </a:r>
            <a:endParaRPr dirty="0"/>
          </a:p>
        </p:txBody>
      </p:sp>
      <p:sp>
        <p:nvSpPr>
          <p:cNvPr id="167" name="Google Shape;167;p16"/>
          <p:cNvSpPr txBox="1"/>
          <p:nvPr/>
        </p:nvSpPr>
        <p:spPr>
          <a:xfrm>
            <a:off x="7215533" y="4968917"/>
            <a:ext cx="364231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 dirty="0">
                <a:solidFill>
                  <a:srgbClr val="854D0E"/>
                </a:solidFill>
                <a:latin typeface="Rubik"/>
                <a:ea typeface="Rubik"/>
                <a:cs typeface="Rubik"/>
                <a:sym typeface="Rubik"/>
              </a:rPr>
              <a:t>SPEAR</a:t>
            </a:r>
            <a:endParaRPr dirty="0"/>
          </a:p>
        </p:txBody>
      </p:sp>
      <p:sp>
        <p:nvSpPr>
          <p:cNvPr id="169" name="Google Shape;169;p16"/>
          <p:cNvSpPr txBox="1"/>
          <p:nvPr/>
        </p:nvSpPr>
        <p:spPr>
          <a:xfrm>
            <a:off x="8811238" y="4968959"/>
            <a:ext cx="223722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 dirty="0">
                <a:solidFill>
                  <a:srgbClr val="854D0E"/>
                </a:solidFill>
                <a:latin typeface="Rubik"/>
                <a:ea typeface="Rubik"/>
                <a:cs typeface="Rubik"/>
                <a:sym typeface="Rubik"/>
              </a:rPr>
              <a:t>AXE</a:t>
            </a:r>
            <a:endParaRPr dirty="0"/>
          </a:p>
        </p:txBody>
      </p:sp>
      <p:sp>
        <p:nvSpPr>
          <p:cNvPr id="171" name="Google Shape;171;p16"/>
          <p:cNvSpPr txBox="1"/>
          <p:nvPr/>
        </p:nvSpPr>
        <p:spPr>
          <a:xfrm>
            <a:off x="10189531" y="4968917"/>
            <a:ext cx="513893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 dirty="0">
                <a:solidFill>
                  <a:srgbClr val="854D0E"/>
                </a:solidFill>
                <a:latin typeface="Rubik"/>
                <a:ea typeface="Rubik"/>
                <a:cs typeface="Rubik"/>
                <a:sym typeface="Rubik"/>
              </a:rPr>
              <a:t>DEFEN</a:t>
            </a:r>
            <a:r>
              <a:rPr lang="en-US" sz="825" b="1" dirty="0">
                <a:solidFill>
                  <a:srgbClr val="854D0E"/>
                </a:solidFill>
                <a:latin typeface="Rubik"/>
                <a:ea typeface="Rubik"/>
                <a:cs typeface="Rubik"/>
                <a:sym typeface="Rubik"/>
              </a:rPr>
              <a:t>CE</a:t>
            </a:r>
            <a:endParaRPr dirty="0"/>
          </a:p>
        </p:txBody>
      </p:sp>
      <p:sp>
        <p:nvSpPr>
          <p:cNvPr id="172" name="Google Shape;172;p16"/>
          <p:cNvSpPr txBox="1"/>
          <p:nvPr/>
        </p:nvSpPr>
        <p:spPr>
          <a:xfrm>
            <a:off x="1076325" y="533400"/>
            <a:ext cx="1101137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B45309"/>
                </a:solidFill>
                <a:latin typeface="Rubik"/>
                <a:ea typeface="Rubik"/>
                <a:cs typeface="Rubik"/>
                <a:sym typeface="Rubik"/>
              </a:rPr>
              <a:t>ГЕЙМПЛЕЙ И ВИЗУАЛЬНЫЙ СТИЛЬ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628650" y="1038225"/>
            <a:ext cx="10934700" cy="38100"/>
          </a:xfrm>
          <a:prstGeom prst="rect">
            <a:avLst/>
          </a:prstGeom>
          <a:solidFill>
            <a:srgbClr val="854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14D578-A39A-7025-D71D-4D829C891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6631" y="3332658"/>
            <a:ext cx="642037" cy="64203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26C516-D4C3-2794-47FD-DD251F1A30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2082" y="3334202"/>
            <a:ext cx="642036" cy="6420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1B520A-A663-EE6A-2C5B-CF4EBC9931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6378" y="3332658"/>
            <a:ext cx="648687" cy="64868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2B30C2-CF81-5910-E1C4-36EC0AB189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8620" y="4351871"/>
            <a:ext cx="618058" cy="6180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3FB17EB-2FC7-8581-E24C-870FD8265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9520" y="4354145"/>
            <a:ext cx="613917" cy="6139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00A589F-C9D3-0BE4-3CF6-922CD1B6B4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5713" y="4354145"/>
            <a:ext cx="614772" cy="61477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D6957EE-8FD1-BD7A-21BE-6745EF40CA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2205409"/>
            <a:ext cx="761999" cy="76199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AF0276E-B35B-9952-2A93-D80E9FCB2DF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49" y="3051656"/>
            <a:ext cx="761999" cy="76199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4798BA0-8487-271E-9D09-C061701E12C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76249" y="3648956"/>
            <a:ext cx="761998" cy="761998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91D0F39-24DB-AB17-F603-BF169815142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76249" y="4609415"/>
            <a:ext cx="761998" cy="761998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0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628650" y="1569243"/>
            <a:ext cx="4895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5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16A34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QUEST COMPLETED!</a:t>
            </a:r>
            <a:endParaRPr dirty="0"/>
          </a:p>
        </p:txBody>
      </p:sp>
      <p:sp>
        <p:nvSpPr>
          <p:cNvPr id="180" name="Google Shape;180;p17"/>
          <p:cNvSpPr txBox="1"/>
          <p:nvPr/>
        </p:nvSpPr>
        <p:spPr>
          <a:xfrm>
            <a:off x="628650" y="1807368"/>
            <a:ext cx="514064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B45309"/>
                </a:solidFill>
                <a:latin typeface="Rubik"/>
                <a:ea typeface="Rubik"/>
                <a:cs typeface="Rubik"/>
                <a:sym typeface="Rubik"/>
              </a:rPr>
              <a:t>ЗАКЛЮЧЕНИЕ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628650" y="2293143"/>
            <a:ext cx="4895850" cy="38100"/>
          </a:xfrm>
          <a:prstGeom prst="rect">
            <a:avLst/>
          </a:prstGeom>
          <a:solidFill>
            <a:srgbClr val="854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53150" y="57150"/>
            <a:ext cx="59817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3881" y="1564481"/>
            <a:ext cx="109537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628650" y="2612231"/>
            <a:ext cx="48958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В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ходе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выполнения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дипломной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работы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игра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1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«Altarion's Journey»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была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успешно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реализована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в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виде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рабочего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прототипа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dirty="0"/>
          </a:p>
        </p:txBody>
      </p:sp>
      <p:sp>
        <p:nvSpPr>
          <p:cNvPr id="185" name="Google Shape;185;p17"/>
          <p:cNvSpPr txBox="1"/>
          <p:nvPr/>
        </p:nvSpPr>
        <p:spPr>
          <a:xfrm>
            <a:off x="628650" y="3486150"/>
            <a:ext cx="489585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Все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программные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модули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—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от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алгоритмов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поиска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совпадений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на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поле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боя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до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системы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прокачки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параметров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героев —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полностью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запрограммированы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 и </a:t>
            </a:r>
            <a:r>
              <a:rPr lang="en-US" sz="1275" b="0" i="0" u="none" strike="noStrike" cap="none" dirty="0" err="1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протестированы</a:t>
            </a:r>
            <a:r>
              <a:rPr lang="en-US" sz="1275" b="0" i="0" u="none" strike="noStrike" cap="none" dirty="0">
                <a:solidFill>
                  <a:srgbClr val="472D16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dirty="0"/>
          </a:p>
        </p:txBody>
      </p:sp>
      <p:sp>
        <p:nvSpPr>
          <p:cNvPr id="186" name="Google Shape;186;p17"/>
          <p:cNvSpPr txBox="1"/>
          <p:nvPr/>
        </p:nvSpPr>
        <p:spPr>
          <a:xfrm>
            <a:off x="628650" y="4349948"/>
            <a:ext cx="489585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Цель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работы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успешно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достигнута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.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Проект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готов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к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дальнейшему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наполнению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контентом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и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публикации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на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игровых </a:t>
            </a:r>
            <a:r>
              <a:rPr lang="en-US" sz="1275" b="0" i="0" u="none" strike="noStrike" cap="none" dirty="0" err="1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маркетплейсах</a:t>
            </a:r>
            <a:r>
              <a:rPr lang="en-US" sz="1275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!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6787" y="1738312"/>
            <a:ext cx="2638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2095500" y="2376487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B4530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СПАСИБО ЗА ВНИМАНИЕ!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2286000" y="3328987"/>
            <a:ext cx="7620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u="none" strike="noStrike" cap="none" dirty="0">
                <a:solidFill>
                  <a:srgbClr val="16A34A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ЗАДАВАЙТЕ СВОИ ВОПРОСЫ</a:t>
            </a:r>
            <a:endParaRPr dirty="0"/>
          </a:p>
        </p:txBody>
      </p:sp>
      <p:pic>
        <p:nvPicPr>
          <p:cNvPr id="196" name="Google Shape;19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9909" y="1862137"/>
            <a:ext cx="176212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312</Words>
  <Application>Microsoft Office PowerPoint</Application>
  <PresentationFormat>Широкоэкранный</PresentationFormat>
  <Paragraphs>44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Rubik</vt:lpstr>
      <vt:lpstr>Calibri</vt:lpstr>
      <vt:lpstr>Press Start 2P</vt:lpstr>
      <vt:lpstr>Rubik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DNS</dc:creator>
  <cp:lastModifiedBy>Даниил Бессарабов</cp:lastModifiedBy>
  <cp:revision>4</cp:revision>
  <dcterms:modified xsi:type="dcterms:W3CDTF">2026-06-10T02:08:15Z</dcterms:modified>
</cp:coreProperties>
</file>